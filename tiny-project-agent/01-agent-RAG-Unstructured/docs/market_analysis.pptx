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阳光早餐市场分析报告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2024年度战略规划</a:t>
            </a:r>
          </a:p>
          <a:p>
            <a:r>
              <a:t>市场部 · 2024年1月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早餐市场规模持续增长，2023年达到8000亿元</a:t>
            </a:r>
          </a:p>
          <a:p>
            <a:r>
              <a:t>• 健康化、便捷化成为主要消费趋势</a:t>
            </a:r>
          </a:p>
          <a:p>
            <a:r>
              <a:t>• 线上渠道快速发展，占比提升至35%</a:t>
            </a:r>
          </a:p>
          <a:p>
            <a:r>
              <a:t>• 阳光早餐市场份额为3.2%，排名行业第五</a:t>
            </a:r>
          </a:p>
          <a:p>
            <a:r>
              <a:t>• 2024年目标市场份额提升至4.5%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早餐市场概况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市场规模</a:t>
            </a:r>
          </a:p>
          <a:p>
            <a:r>
              <a:t>• 总规模：8000亿元（2023年）</a:t>
            </a:r>
          </a:p>
          <a:p>
            <a:r>
              <a:t>• 年增长率：12.5%</a:t>
            </a:r>
          </a:p>
          <a:p>
            <a:r>
              <a:t>• 预计2025年突破1万亿元</a:t>
            </a:r>
          </a:p>
          <a:p/>
          <a:p>
            <a:r>
              <a:t>消费特征</a:t>
            </a:r>
          </a:p>
          <a:p>
            <a:r>
              <a:t>• 一线城市：人均月消费280元</a:t>
            </a:r>
          </a:p>
          <a:p>
            <a:r>
              <a:t>• 二线城市：人均月消费180元</a:t>
            </a:r>
          </a:p>
          <a:p>
            <a:r>
              <a:t>• 三线及以下：人均月消费120元</a:t>
            </a:r>
          </a:p>
          <a:p/>
          <a:p>
            <a:r>
              <a:t>主要驱动因素</a:t>
            </a:r>
          </a:p>
          <a:p>
            <a:r>
              <a:t>• 生活节奏加快，便捷性需求增强</a:t>
            </a:r>
          </a:p>
          <a:p>
            <a:r>
              <a:t>• 健康意识提升，营养需求增长</a:t>
            </a:r>
          </a:p>
          <a:p>
            <a:r>
              <a:t>• 收入水平提高，消费能力提升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竞争格局分析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主要竞争对手市场份额</a:t>
            </a:r>
          </a:p>
          <a:p>
            <a:r>
              <a:t>• 好利来：8.5% - 品牌知名度高，产品线成熟</a:t>
            </a:r>
          </a:p>
          <a:p>
            <a:r>
              <a:t>• 味多美：6.2% - 门店覆盖广，价格合理</a:t>
            </a:r>
          </a:p>
          <a:p>
            <a:r>
              <a:t>• 面包新语：4.8% - 产品创新能力强</a:t>
            </a:r>
          </a:p>
          <a:p>
            <a:r>
              <a:t>• 85度C：4.1% - 台式风味，差异化定位</a:t>
            </a:r>
          </a:p>
          <a:p>
            <a:r>
              <a:t>• 阳光早餐：3.2% - 健康定位，快速增长</a:t>
            </a:r>
          </a:p>
          <a:p/>
          <a:p>
            <a:r>
              <a:t>竞争态势分析</a:t>
            </a:r>
          </a:p>
          <a:p>
            <a:r>
              <a:t>• 头部品牌优势明显，市场份额集中度提升</a:t>
            </a:r>
          </a:p>
          <a:p>
            <a:r>
              <a:t>• 中小品牌通过差异化定位寻求突破</a:t>
            </a:r>
          </a:p>
          <a:p>
            <a:r>
              <a:t>• 价格竞争激烈，利润空间被压缩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消费者洞察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目标客群画像</a:t>
            </a:r>
          </a:p>
          <a:p>
            <a:r>
              <a:t>• 年龄：25-45岁为主力消费群体</a:t>
            </a:r>
          </a:p>
          <a:p>
            <a:r>
              <a:t>• 职业：白领、上班族占比65%</a:t>
            </a:r>
          </a:p>
          <a:p>
            <a:r>
              <a:t>• 收入：月收入8000-20000元</a:t>
            </a:r>
          </a:p>
          <a:p>
            <a:r>
              <a:t>• 特点：注重健康，时间敏感，愿意为品质付费</a:t>
            </a:r>
          </a:p>
          <a:p/>
          <a:p>
            <a:r>
              <a:t>消费偏好</a:t>
            </a:r>
          </a:p>
          <a:p>
            <a:r>
              <a:t>• 健康营养：72%的消费者关注营养成分</a:t>
            </a:r>
          </a:p>
          <a:p>
            <a:r>
              <a:t>• 便捷性：68%的消费者看重购买便利性</a:t>
            </a:r>
          </a:p>
          <a:p>
            <a:r>
              <a:t>• 品质保证：55%的消费者愿意为高品质付费</a:t>
            </a:r>
          </a:p>
          <a:p>
            <a:r>
              <a:t>• 品牌认知：48%的消费者倾向于知名品牌</a:t>
            </a:r>
          </a:p>
          <a:p/>
          <a:p>
            <a:r>
              <a:t>购买渠道偏好</a:t>
            </a:r>
          </a:p>
          <a:p>
            <a:r>
              <a:t>• 线下门店：45%</a:t>
            </a:r>
          </a:p>
          <a:p>
            <a:r>
              <a:t>• 电商平台：30%</a:t>
            </a:r>
          </a:p>
          <a:p>
            <a:r>
              <a:t>• 商超渠道：20%</a:t>
            </a:r>
          </a:p>
          <a:p>
            <a:r>
              <a:t>• 其他渠道：5%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优势（Strengths）</a:t>
            </a:r>
          </a:p>
          <a:p>
            <a:r>
              <a:t>• 产品品质优良，原材料供应链稳定</a:t>
            </a:r>
          </a:p>
          <a:p>
            <a:r>
              <a:t>• 健康定位符合市场趋势</a:t>
            </a:r>
          </a:p>
          <a:p>
            <a:r>
              <a:t>• 生产成本控制良好</a:t>
            </a:r>
          </a:p>
          <a:p/>
          <a:p>
            <a:r>
              <a:t>劣势（Weaknesses）</a:t>
            </a:r>
          </a:p>
          <a:p>
            <a:r>
              <a:t>• 品牌知名度相对较低</a:t>
            </a:r>
          </a:p>
          <a:p>
            <a:r>
              <a:t>• 门店覆盖面不够广泛</a:t>
            </a:r>
          </a:p>
          <a:p>
            <a:r>
              <a:t>• 产品创新速度有待提升</a:t>
            </a:r>
          </a:p>
          <a:p/>
          <a:p>
            <a:r>
              <a:t>机会（Opportunities）</a:t>
            </a:r>
          </a:p>
          <a:p>
            <a:r>
              <a:t>• 健康消费趋势持续强化</a:t>
            </a:r>
          </a:p>
          <a:p>
            <a:r>
              <a:t>• 线上渠道快速发展</a:t>
            </a:r>
          </a:p>
          <a:p>
            <a:r>
              <a:t>• 企业客户市场潜力巨大</a:t>
            </a:r>
          </a:p>
          <a:p/>
          <a:p>
            <a:r>
              <a:t>威胁（Threats）</a:t>
            </a:r>
          </a:p>
          <a:p>
            <a:r>
              <a:t>• 竞争加剧，价格压力增大</a:t>
            </a:r>
          </a:p>
          <a:p>
            <a:r>
              <a:t>• 原材料成本上涨</a:t>
            </a:r>
          </a:p>
          <a:p>
            <a:r>
              <a:t>• 消费者偏好变化加快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市场机会分析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产品创新机会</a:t>
            </a:r>
          </a:p>
          <a:p>
            <a:r>
              <a:t>• 低糖、无糖产品需求增长35%</a:t>
            </a:r>
          </a:p>
          <a:p>
            <a:r>
              <a:t>• 高蛋白产品市场规模年增长40%</a:t>
            </a:r>
          </a:p>
          <a:p>
            <a:r>
              <a:t>• 有机认证产品溢价空间达30%</a:t>
            </a:r>
          </a:p>
          <a:p/>
          <a:p>
            <a:r>
              <a:t>渠道拓展机会</a:t>
            </a:r>
          </a:p>
          <a:p>
            <a:r>
              <a:t>• 社区团购渠道年增长80%</a:t>
            </a:r>
          </a:p>
          <a:p>
            <a:r>
              <a:t>• 办公楼配送需求增长60%</a:t>
            </a:r>
          </a:p>
          <a:p>
            <a:r>
              <a:t>• 学校市场渗透率仅20%，潜力巨大</a:t>
            </a:r>
          </a:p>
          <a:p/>
          <a:p>
            <a:r>
              <a:t>区域扩张机会</a:t>
            </a:r>
          </a:p>
          <a:p>
            <a:r>
              <a:t>• 二三线城市市场增速快于一线</a:t>
            </a:r>
          </a:p>
          <a:p>
            <a:r>
              <a:t>• 西部地区市场开发度较低</a:t>
            </a:r>
          </a:p>
          <a:p>
            <a:r>
              <a:t>• 县域市场消费升级趋势明显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营销策略建议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品牌营销策略</a:t>
            </a:r>
          </a:p>
          <a:p>
            <a:r>
              <a:t>• 强化"健康早餐"品牌定位</a:t>
            </a:r>
          </a:p>
          <a:p>
            <a:r>
              <a:t>• 加大数字营销投入，提升品牌知名度</a:t>
            </a:r>
          </a:p>
          <a:p>
            <a:r>
              <a:t>• 与健身、健康类KOL合作推广</a:t>
            </a:r>
          </a:p>
          <a:p/>
          <a:p>
            <a:r>
              <a:t>产品营销策略</a:t>
            </a:r>
          </a:p>
          <a:p>
            <a:r>
              <a:t>• 推出细分人群专属产品线</a:t>
            </a:r>
          </a:p>
          <a:p>
            <a:r>
              <a:t>• 加强产品营养成分宣传</a:t>
            </a:r>
          </a:p>
          <a:p>
            <a:r>
              <a:t>• 开发季节性限定产品</a:t>
            </a:r>
          </a:p>
          <a:p/>
          <a:p>
            <a:r>
              <a:t>渠道营销策略</a:t>
            </a:r>
          </a:p>
          <a:p>
            <a:r>
              <a:t>• 优化门店布局，提升购物体验</a:t>
            </a:r>
          </a:p>
          <a:p>
            <a:r>
              <a:t>• 加强电商直播带货</a:t>
            </a:r>
          </a:p>
          <a:p>
            <a:r>
              <a:t>• 拓展企业客户直销渠道</a:t>
            </a:r>
          </a:p>
          <a:p/>
          <a:p>
            <a:r>
              <a:t>促销策略</a:t>
            </a:r>
          </a:p>
          <a:p>
            <a:r>
              <a:t>• 建立会员积分体系</a:t>
            </a:r>
          </a:p>
          <a:p>
            <a:r>
              <a:t>• 推出套餐优惠组合</a:t>
            </a:r>
          </a:p>
          <a:p>
            <a:r>
              <a:t>• 开展主题营销活动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短期投资重点（2024年）</a:t>
            </a:r>
          </a:p>
          <a:p>
            <a:r>
              <a:t>• 品牌营销投入：增加3000万预算</a:t>
            </a:r>
          </a:p>
          <a:p>
            <a:r>
              <a:t>• 门店扩张：新开50家直营店</a:t>
            </a:r>
          </a:p>
          <a:p>
            <a:r>
              <a:t>• 产品研发：推出4个新产品系列</a:t>
            </a:r>
          </a:p>
          <a:p/>
          <a:p>
            <a:r>
              <a:t>中期投资规划（2025-2026年）</a:t>
            </a:r>
          </a:p>
          <a:p>
            <a:r>
              <a:t>• 产能扩张：新建2个生产基地</a:t>
            </a:r>
          </a:p>
          <a:p>
            <a:r>
              <a:t>• 数字化建设：投入5000万建设智能系统</a:t>
            </a:r>
          </a:p>
          <a:p>
            <a:r>
              <a:t>• 国际化布局：试点海外市场</a:t>
            </a:r>
          </a:p>
          <a:p/>
          <a:p>
            <a:r>
              <a:t>预期投资回报</a:t>
            </a:r>
          </a:p>
          <a:p>
            <a:r>
              <a:t>• 短期ROI：预计18个月内实现盈亏平衡</a:t>
            </a:r>
          </a:p>
          <a:p>
            <a:r>
              <a:t>• 中期ROI：3年投资回报率达到25%</a:t>
            </a:r>
          </a:p>
          <a:p>
            <a:r>
              <a:t>• 长期价值：品牌价值提升，市场份额增长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关键结论</a:t>
            </a:r>
          </a:p>
          <a:p>
            <a:r>
              <a:t>• 早餐市场前景广阔，增长潜力巨大</a:t>
            </a:r>
          </a:p>
          <a:p>
            <a:r>
              <a:t>• 阳光早餐具备良好的发展基础</a:t>
            </a:r>
          </a:p>
          <a:p>
            <a:r>
              <a:t>• 差异化竞争策略是成功关键</a:t>
            </a:r>
          </a:p>
          <a:p/>
          <a:p>
            <a:r>
              <a:t>发展目标</a:t>
            </a:r>
          </a:p>
          <a:p>
            <a:r>
              <a:t>• 2024年市场份额提升至4.5%</a:t>
            </a:r>
          </a:p>
          <a:p>
            <a:r>
              <a:t>• 2025年成为行业前三品牌</a:t>
            </a:r>
          </a:p>
          <a:p>
            <a:r>
              <a:t>• 2026年启动国际化布局</a:t>
            </a:r>
          </a:p>
          <a:p/>
          <a:p>
            <a:r>
              <a:t>成功要素</a:t>
            </a:r>
          </a:p>
          <a:p>
            <a:r>
              <a:t>• 坚持产品品质，打造核心竞争优势</a:t>
            </a:r>
          </a:p>
          <a:p>
            <a:r>
              <a:t>• 加快品牌建设，提升市场影响力</a:t>
            </a:r>
          </a:p>
          <a:p>
            <a:r>
              <a:t>• 优化渠道布局，扩大市场覆盖</a:t>
            </a:r>
          </a:p>
          <a:p>
            <a:r>
              <a:t>• 推进数字化转型，提升运营效率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